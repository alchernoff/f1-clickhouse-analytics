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162336"/>
          </a:solidFill>
          <a:ln>
            <a:solidFill>
              <a:srgbClr val="16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6949440" cy="4114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Roboto"/>
              </a:defRPr>
            </a:pPr>
            <a:r>
              <a:t>Аналитика данных Формулы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60120"/>
            <a:ext cx="7040880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2000" b="1">
                <a:solidFill>
                  <a:srgbClr val="00A9E0"/>
                </a:solidFill>
                <a:latin typeface="Roboto"/>
              </a:defRPr>
            </a:pPr>
            <a:r>
              <a:t>с помощью ClickHouse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6217920" cy="201168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50" b="0">
                <a:solidFill>
                  <a:srgbClr val="D2DCE6"/>
                </a:solidFill>
                <a:latin typeface="Roboto"/>
              </a:defRPr>
            </a:pPr>
            <a:r>
              <a:t>Проектная защита • Data Analytics / DWH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411480"/>
            <a:ext cx="3474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79" y="411480"/>
            <a:ext cx="73152" cy="1051560"/>
          </a:xfrm>
          <a:prstGeom prst="rect">
            <a:avLst/>
          </a:prstGeom>
          <a:solidFill>
            <a:srgbClr val="00A9E0"/>
          </a:solidFill>
          <a:ln>
            <a:solidFill>
              <a:srgbClr val="00A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9871" y="539496"/>
            <a:ext cx="318211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Автор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9871" y="886968"/>
            <a:ext cx="3182112" cy="484631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00" b="0">
                <a:solidFill>
                  <a:srgbClr val="697582"/>
                </a:solidFill>
                <a:latin typeface="Roboto"/>
              </a:defRPr>
            </a:pPr>
            <a:r>
              <a:t>Александр Чернов</a:t>
            </a:r>
            <a:br/>
            <a:r>
              <a:t>GitHub: AlChernoff/f1-clickhouse-analytics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1417320" cy="713232"/>
          </a:xfrm>
          <a:prstGeom prst="round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89864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CSV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21991" y="3099816"/>
            <a:ext cx="146305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395728" y="2743200"/>
            <a:ext cx="1417320" cy="713232"/>
          </a:xfrm>
          <a:prstGeom prst="round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80" y="289864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Loader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40480" y="3099816"/>
            <a:ext cx="146303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014215" y="2743200"/>
            <a:ext cx="1417320" cy="713232"/>
          </a:xfrm>
          <a:prstGeom prst="roundRect">
            <a:avLst/>
          </a:prstGeom>
          <a:solidFill>
            <a:srgbClr val="162336"/>
          </a:solidFill>
          <a:ln>
            <a:solidFill>
              <a:srgbClr val="16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87368" y="289864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ClickHouse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58968" y="3099816"/>
            <a:ext cx="146303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632704" y="2743200"/>
            <a:ext cx="1417320" cy="713232"/>
          </a:xfrm>
          <a:prstGeom prst="roundRect">
            <a:avLst/>
          </a:prstGeom>
          <a:solidFill>
            <a:srgbClr val="24A654"/>
          </a:solidFill>
          <a:ln>
            <a:solidFill>
              <a:srgbClr val="24A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05856" y="289864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dbt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77456" y="3099816"/>
            <a:ext cx="146303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251192" y="2743200"/>
            <a:ext cx="1417320" cy="713232"/>
          </a:xfrm>
          <a:prstGeom prst="roundRect">
            <a:avLst/>
          </a:prstGeom>
          <a:solidFill>
            <a:srgbClr val="DC4556"/>
          </a:solidFill>
          <a:ln>
            <a:solidFill>
              <a:srgbClr val="DC4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24344" y="289864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Grafana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95944" y="3099816"/>
            <a:ext cx="146304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869680" y="2743200"/>
            <a:ext cx="1417320" cy="713232"/>
          </a:xfrm>
          <a:prstGeom prst="roundRect">
            <a:avLst/>
          </a:prstGeom>
          <a:solidFill>
            <a:srgbClr val="00A9E0"/>
          </a:solidFill>
          <a:ln>
            <a:solidFill>
              <a:srgbClr val="00A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42832" y="289864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Superset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" y="4572000"/>
            <a:ext cx="28346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5840" y="4572000"/>
            <a:ext cx="73152" cy="100584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4700016"/>
            <a:ext cx="254203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Главная идея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047488"/>
            <a:ext cx="2542032" cy="4389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50" b="0">
                <a:solidFill>
                  <a:srgbClr val="697582"/>
                </a:solidFill>
                <a:latin typeface="Roboto"/>
              </a:defRPr>
            </a:pPr>
            <a:r>
              <a:t>Полный demo-пайплайн: от загрузки данных до BI-дашборда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4572000"/>
            <a:ext cx="28346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17720" y="4572000"/>
            <a:ext cx="73152" cy="1005840"/>
          </a:xfrm>
          <a:prstGeom prst="rect">
            <a:avLst/>
          </a:prstGeom>
          <a:solidFill>
            <a:srgbClr val="24A654"/>
          </a:solidFill>
          <a:ln>
            <a:solidFill>
              <a:srgbClr val="24A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82312" y="4700016"/>
            <a:ext cx="254203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Фокус проекта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82312" y="5047488"/>
            <a:ext cx="2542032" cy="4389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50" b="0">
                <a:solidFill>
                  <a:srgbClr val="697582"/>
                </a:solidFill>
                <a:latin typeface="Roboto"/>
              </a:defRPr>
            </a:pPr>
            <a:r>
              <a:t>ClickHouse как аналитическое хранилище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4572000"/>
            <a:ext cx="28346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4572000"/>
            <a:ext cx="73152" cy="100584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94192" y="4700016"/>
            <a:ext cx="254203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Результат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5047488"/>
            <a:ext cx="2542032" cy="4389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50" b="0">
                <a:solidFill>
                  <a:srgbClr val="697582"/>
                </a:solidFill>
                <a:latin typeface="Roboto"/>
              </a:defRPr>
            </a:pPr>
            <a:r>
              <a:t>Воспроизводимый запуск: make demo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73952"/>
            <a:ext cx="73152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r">
              <a:defRPr sz="900" b="0">
                <a:solidFill>
                  <a:srgbClr val="697582"/>
                </a:solidFill>
                <a:latin typeface="Roboto"/>
              </a:defRPr>
            </a:pPr>
            <a:r>
              <a:t>1/8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502920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900" b="0">
                <a:solidFill>
                  <a:srgbClr val="697582"/>
                </a:solidFill>
                <a:latin typeface="Roboto"/>
              </a:defRPr>
            </a:pPr>
            <a:r>
              <a:t>F1 ClickHouse Analytics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955279" cy="4114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2700" b="1">
                <a:solidFill>
                  <a:srgbClr val="162336"/>
                </a:solidFill>
                <a:latin typeface="Roboto"/>
              </a:defRPr>
            </a:pPr>
            <a:r>
              <a:t>Цель и задачи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9875520" cy="3108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350" b="0">
                <a:solidFill>
                  <a:srgbClr val="697582"/>
                </a:solidFill>
                <a:latin typeface="Roboto"/>
              </a:defRPr>
            </a:pPr>
            <a:r>
              <a:t>Что нужно было получить в результате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61288"/>
            <a:ext cx="1463040" cy="4572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4663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08760"/>
            <a:ext cx="73152" cy="132588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36776"/>
            <a:ext cx="4370831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Цель проекта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984248"/>
            <a:ext cx="4370831" cy="7589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400" b="0">
                <a:solidFill>
                  <a:srgbClr val="697582"/>
                </a:solidFill>
                <a:latin typeface="Roboto"/>
              </a:defRPr>
            </a:pPr>
            <a:r>
              <a:t>Создать воспроизводимый аналитический pipeline для данных Формулы 1 на базе ClickHouse.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200400"/>
            <a:ext cx="2514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200400"/>
            <a:ext cx="73152" cy="91440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328416"/>
            <a:ext cx="222199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1. Загрузка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2221992" cy="34747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00" b="0">
                <a:solidFill>
                  <a:srgbClr val="697582"/>
                </a:solidFill>
                <a:latin typeface="Roboto"/>
              </a:defRPr>
            </a:pPr>
            <a:r>
              <a:t>CSV → batch replay loader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3200400"/>
            <a:ext cx="2514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3200400"/>
            <a:ext cx="73152" cy="914400"/>
          </a:xfrm>
          <a:prstGeom prst="rect">
            <a:avLst/>
          </a:prstGeom>
          <a:solidFill>
            <a:srgbClr val="162336"/>
          </a:solidFill>
          <a:ln>
            <a:solidFill>
              <a:srgbClr val="16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85032" y="3328416"/>
            <a:ext cx="222199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2. Хранилище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5032" y="3675887"/>
            <a:ext cx="2221992" cy="34747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00" b="0">
                <a:solidFill>
                  <a:srgbClr val="697582"/>
                </a:solidFill>
                <a:latin typeface="Roboto"/>
              </a:defRPr>
            </a:pPr>
            <a:r>
              <a:t>raw / dwh / marts / monitoring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3200400"/>
            <a:ext cx="2514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3200400"/>
            <a:ext cx="73152" cy="914400"/>
          </a:xfrm>
          <a:prstGeom prst="rect">
            <a:avLst/>
          </a:prstGeom>
          <a:solidFill>
            <a:srgbClr val="24A654"/>
          </a:solidFill>
          <a:ln>
            <a:solidFill>
              <a:srgbClr val="24A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3328416"/>
            <a:ext cx="222199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3. Трансформации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3675887"/>
            <a:ext cx="2221992" cy="34747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00" b="0">
                <a:solidFill>
                  <a:srgbClr val="697582"/>
                </a:solidFill>
                <a:latin typeface="Roboto"/>
              </a:defRPr>
            </a:pPr>
            <a:r>
              <a:t>dbt-модели и тесты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3200400"/>
            <a:ext cx="2514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3200400"/>
            <a:ext cx="73152" cy="914400"/>
          </a:xfrm>
          <a:prstGeom prst="rect">
            <a:avLst/>
          </a:prstGeom>
          <a:solidFill>
            <a:srgbClr val="00A9E0"/>
          </a:solidFill>
          <a:ln>
            <a:solidFill>
              <a:srgbClr val="00A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3328416"/>
            <a:ext cx="222199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4. Визуализация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2" y="3675887"/>
            <a:ext cx="2221992" cy="34747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00" b="0">
                <a:solidFill>
                  <a:srgbClr val="697582"/>
                </a:solidFill>
                <a:latin typeface="Roboto"/>
              </a:defRPr>
            </a:pPr>
            <a:r>
              <a:t>Grafana + Superset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1508760"/>
            <a:ext cx="4663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1508760"/>
            <a:ext cx="73152" cy="1325880"/>
          </a:xfrm>
          <a:prstGeom prst="rect">
            <a:avLst/>
          </a:prstGeom>
          <a:solidFill>
            <a:srgbClr val="24A654"/>
          </a:solidFill>
          <a:ln>
            <a:solidFill>
              <a:srgbClr val="24A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8272" y="1636776"/>
            <a:ext cx="4370831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Критерий готовности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1984248"/>
            <a:ext cx="4370831" cy="7589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400" b="0">
                <a:solidFill>
                  <a:srgbClr val="697582"/>
                </a:solidFill>
                <a:latin typeface="Roboto"/>
              </a:defRPr>
            </a:pPr>
            <a:r>
              <a:t>Проект можно поднять с нуля одной командой: make demo.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73952"/>
            <a:ext cx="73152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r">
              <a:defRPr sz="900" b="0">
                <a:solidFill>
                  <a:srgbClr val="697582"/>
                </a:solidFill>
                <a:latin typeface="Roboto"/>
              </a:defRPr>
            </a:pPr>
            <a:r>
              <a:t>2/8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900" b="0">
                <a:solidFill>
                  <a:srgbClr val="697582"/>
                </a:solidFill>
                <a:latin typeface="Roboto"/>
              </a:defRPr>
            </a:pPr>
            <a:r>
              <a:t>F1 ClickHouse Analytics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955279" cy="4114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2700" b="1">
                <a:solidFill>
                  <a:srgbClr val="162336"/>
                </a:solidFill>
                <a:latin typeface="Roboto"/>
              </a:defRPr>
            </a:pPr>
            <a:r>
              <a:t>Технологии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9875520" cy="3108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350" b="0">
                <a:solidFill>
                  <a:srgbClr val="697582"/>
                </a:solidFill>
                <a:latin typeface="Roboto"/>
              </a:defRPr>
            </a:pPr>
            <a:r>
              <a:t>Выбор инструментов и их роль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61288"/>
            <a:ext cx="1463040" cy="4572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2468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00200"/>
            <a:ext cx="73152" cy="1874519"/>
          </a:xfrm>
          <a:prstGeom prst="rect">
            <a:avLst/>
          </a:prstGeom>
          <a:solidFill>
            <a:srgbClr val="162336"/>
          </a:solidFill>
          <a:ln>
            <a:solidFill>
              <a:srgbClr val="16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728216"/>
            <a:ext cx="217627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ClickHouse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075688"/>
            <a:ext cx="2176272" cy="1307591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50" b="0">
                <a:solidFill>
                  <a:srgbClr val="697582"/>
                </a:solidFill>
                <a:latin typeface="Roboto"/>
              </a:defRPr>
            </a:pPr>
            <a:r>
              <a:t>колоночное аналитическое хранилище</a:t>
            </a:r>
            <a:br/>
            <a:r>
              <a:t>быстрые агрегации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600200"/>
            <a:ext cx="2468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6160" y="1600200"/>
            <a:ext cx="73152" cy="1874519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30752" y="1728216"/>
            <a:ext cx="217627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Python + uv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0752" y="2075688"/>
            <a:ext cx="2176272" cy="1307591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50" b="0">
                <a:solidFill>
                  <a:srgbClr val="697582"/>
                </a:solidFill>
                <a:latin typeface="Roboto"/>
              </a:defRPr>
            </a:pPr>
            <a:r>
              <a:t>replay-loader</a:t>
            </a:r>
            <a:br/>
            <a:r>
              <a:t>пакетирование загрузки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1600200"/>
            <a:ext cx="2468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1600200"/>
            <a:ext cx="73152" cy="1874519"/>
          </a:xfrm>
          <a:prstGeom prst="rect">
            <a:avLst/>
          </a:prstGeom>
          <a:solidFill>
            <a:srgbClr val="24A654"/>
          </a:solidFill>
          <a:ln>
            <a:solidFill>
              <a:srgbClr val="24A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2552" y="1728216"/>
            <a:ext cx="217627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dbt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2552" y="2075688"/>
            <a:ext cx="2176272" cy="1307591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50" b="0">
                <a:solidFill>
                  <a:srgbClr val="697582"/>
                </a:solidFill>
                <a:latin typeface="Roboto"/>
              </a:defRPr>
            </a:pPr>
            <a:r>
              <a:t>staging / DWH / marts</a:t>
            </a:r>
            <a:br/>
            <a:r>
              <a:t>тесты качества данных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1600200"/>
            <a:ext cx="2468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1600200"/>
            <a:ext cx="73152" cy="1874519"/>
          </a:xfrm>
          <a:prstGeom prst="rect">
            <a:avLst/>
          </a:prstGeom>
          <a:solidFill>
            <a:srgbClr val="DC4556"/>
          </a:solidFill>
          <a:ln>
            <a:solidFill>
              <a:srgbClr val="DC4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4352" y="1728216"/>
            <a:ext cx="217627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Grafana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2075688"/>
            <a:ext cx="2176272" cy="1307591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50" b="0">
                <a:solidFill>
                  <a:srgbClr val="697582"/>
                </a:solidFill>
                <a:latin typeface="Roboto"/>
              </a:defRPr>
            </a:pPr>
            <a:r>
              <a:t>технический мониторинг</a:t>
            </a:r>
            <a:br/>
            <a:r>
              <a:t>loader metrics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63040" y="3977639"/>
            <a:ext cx="2743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63040" y="3977639"/>
            <a:ext cx="73152" cy="1234440"/>
          </a:xfrm>
          <a:prstGeom prst="rect">
            <a:avLst/>
          </a:prstGeom>
          <a:solidFill>
            <a:srgbClr val="00A9E0"/>
          </a:solidFill>
          <a:ln>
            <a:solidFill>
              <a:srgbClr val="00A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4105655"/>
            <a:ext cx="245059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Superset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7632" y="4453127"/>
            <a:ext cx="2450592" cy="6675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50" b="0">
                <a:solidFill>
                  <a:srgbClr val="697582"/>
                </a:solidFill>
                <a:latin typeface="Roboto"/>
              </a:defRPr>
            </a:pPr>
            <a:r>
              <a:t>BI-дашборд по витринам marts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60" y="3977639"/>
            <a:ext cx="2743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09160" y="3977639"/>
            <a:ext cx="73152" cy="123444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3752" y="4105655"/>
            <a:ext cx="245059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Docker Compose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2" y="4453127"/>
            <a:ext cx="2450592" cy="6675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50" b="0">
                <a:solidFill>
                  <a:srgbClr val="697582"/>
                </a:solidFill>
                <a:latin typeface="Roboto"/>
              </a:defRPr>
            </a:pPr>
            <a:r>
              <a:t>вся инфраструктура как код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79" y="3977639"/>
            <a:ext cx="2743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55279" y="3977639"/>
            <a:ext cx="73152" cy="1234440"/>
          </a:xfrm>
          <a:prstGeom prst="rect">
            <a:avLst/>
          </a:prstGeom>
          <a:solidFill>
            <a:srgbClr val="697582"/>
          </a:solidFill>
          <a:ln>
            <a:solidFill>
              <a:srgbClr val="6975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4105655"/>
            <a:ext cx="245059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GitHub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9871" y="4453127"/>
            <a:ext cx="2450592" cy="6675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50" b="0">
                <a:solidFill>
                  <a:srgbClr val="697582"/>
                </a:solidFill>
                <a:latin typeface="Roboto"/>
              </a:defRPr>
            </a:pPr>
            <a:r>
              <a:t>публичный репозиторий и документация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73152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r">
              <a:defRPr sz="900" b="0">
                <a:solidFill>
                  <a:srgbClr val="697582"/>
                </a:solidFill>
                <a:latin typeface="Roboto"/>
              </a:defRPr>
            </a:pPr>
            <a: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502920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900" b="0">
                <a:solidFill>
                  <a:srgbClr val="697582"/>
                </a:solidFill>
                <a:latin typeface="Roboto"/>
              </a:defRPr>
            </a:pPr>
            <a:r>
              <a:t>F1 ClickHouse Analytics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955279" cy="4114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2700" b="1">
                <a:solidFill>
                  <a:srgbClr val="162336"/>
                </a:solidFill>
                <a:latin typeface="Roboto"/>
              </a:defRPr>
            </a:pPr>
            <a:r>
              <a:t>Архитектура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9875520" cy="3108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350" b="0">
                <a:solidFill>
                  <a:srgbClr val="697582"/>
                </a:solidFill>
                <a:latin typeface="Roboto"/>
              </a:defRPr>
            </a:pPr>
            <a:r>
              <a:t>End-to-end поток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61288"/>
            <a:ext cx="1463040" cy="4572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417320" cy="713232"/>
          </a:xfrm>
          <a:prstGeom prst="round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8424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F1 CSV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21991" y="2185416"/>
            <a:ext cx="146305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95728" y="1828800"/>
            <a:ext cx="1417320" cy="713232"/>
          </a:xfrm>
          <a:prstGeom prst="round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198424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Replay</a:t>
            </a:r>
            <a:br/>
            <a:r>
              <a:t>Loader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2185416"/>
            <a:ext cx="146303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014215" y="1828800"/>
            <a:ext cx="1417320" cy="713232"/>
          </a:xfrm>
          <a:prstGeom prst="roundRect">
            <a:avLst/>
          </a:prstGeom>
          <a:solidFill>
            <a:srgbClr val="162336"/>
          </a:solidFill>
          <a:ln>
            <a:solidFill>
              <a:srgbClr val="16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87368" y="198424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RAW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58968" y="2185416"/>
            <a:ext cx="146303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632704" y="1828800"/>
            <a:ext cx="1417320" cy="713232"/>
          </a:xfrm>
          <a:prstGeom prst="roundRect">
            <a:avLst/>
          </a:prstGeom>
          <a:solidFill>
            <a:srgbClr val="24A654"/>
          </a:solidFill>
          <a:ln>
            <a:solidFill>
              <a:srgbClr val="24A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05856" y="198424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dbt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77456" y="2185416"/>
            <a:ext cx="146303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51192" y="1828800"/>
            <a:ext cx="1417320" cy="713232"/>
          </a:xfrm>
          <a:prstGeom prst="roundRect">
            <a:avLst/>
          </a:prstGeom>
          <a:solidFill>
            <a:srgbClr val="162336"/>
          </a:solidFill>
          <a:ln>
            <a:solidFill>
              <a:srgbClr val="16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24344" y="198424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MARTS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95944" y="2185416"/>
            <a:ext cx="146304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869680" y="1828800"/>
            <a:ext cx="1417320" cy="713232"/>
          </a:xfrm>
          <a:prstGeom prst="roundRect">
            <a:avLst/>
          </a:prstGeom>
          <a:solidFill>
            <a:srgbClr val="00A9E0"/>
          </a:solidFill>
          <a:ln>
            <a:solidFill>
              <a:srgbClr val="00A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42832" y="198424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BI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154680"/>
            <a:ext cx="25603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154680"/>
            <a:ext cx="73152" cy="114300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282696"/>
            <a:ext cx="226771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" y="3630168"/>
            <a:ext cx="2267712" cy="57607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170" b="0">
                <a:solidFill>
                  <a:srgbClr val="697582"/>
                </a:solidFill>
                <a:latin typeface="Roboto"/>
              </a:defRPr>
            </a:pPr>
            <a:r>
              <a:t>Исторический F1 dataset</a:t>
            </a:r>
            <a:br/>
            <a:r>
              <a:t>не хранится в Git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1880" y="3154680"/>
            <a:ext cx="25603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11880" y="3154680"/>
            <a:ext cx="73152" cy="114300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282696"/>
            <a:ext cx="226771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Ingestion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6472" y="3630168"/>
            <a:ext cx="2267712" cy="57607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170" b="0">
                <a:solidFill>
                  <a:srgbClr val="697582"/>
                </a:solidFill>
                <a:latin typeface="Roboto"/>
              </a:defRPr>
            </a:pPr>
            <a:r>
              <a:t>Batch-загрузка</a:t>
            </a:r>
            <a:br/>
            <a:r>
              <a:t>и логирование статуса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46520" y="3154680"/>
            <a:ext cx="25603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3154680"/>
            <a:ext cx="73152" cy="1143000"/>
          </a:xfrm>
          <a:prstGeom prst="rect">
            <a:avLst/>
          </a:prstGeom>
          <a:solidFill>
            <a:srgbClr val="162336"/>
          </a:solidFill>
          <a:ln>
            <a:solidFill>
              <a:srgbClr val="16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282696"/>
            <a:ext cx="226771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Storage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3630168"/>
            <a:ext cx="2267712" cy="57607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170" b="0">
                <a:solidFill>
                  <a:srgbClr val="697582"/>
                </a:solidFill>
                <a:latin typeface="Roboto"/>
              </a:defRPr>
            </a:pPr>
            <a:r>
              <a:t>ClickHouse базы:</a:t>
            </a:r>
            <a:br/>
            <a:r>
              <a:t>raw, dwh, marts, monitoring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1160" y="3154680"/>
            <a:ext cx="25603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81160" y="3154680"/>
            <a:ext cx="73152" cy="1143000"/>
          </a:xfrm>
          <a:prstGeom prst="rect">
            <a:avLst/>
          </a:prstGeom>
          <a:solidFill>
            <a:srgbClr val="00A9E0"/>
          </a:solidFill>
          <a:ln>
            <a:solidFill>
              <a:srgbClr val="00A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45752" y="3282696"/>
            <a:ext cx="226771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Dashboards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5752" y="3630168"/>
            <a:ext cx="2267712" cy="57607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170" b="0">
                <a:solidFill>
                  <a:srgbClr val="697582"/>
                </a:solidFill>
                <a:latin typeface="Roboto"/>
              </a:defRPr>
            </a:pPr>
            <a:r>
              <a:t>Grafana для pipeline</a:t>
            </a:r>
            <a:br/>
            <a:r>
              <a:t>Superset для аналитики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5166360"/>
            <a:ext cx="996696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ctr">
              <a:defRPr sz="1600" b="1">
                <a:solidFill>
                  <a:srgbClr val="162336"/>
                </a:solidFill>
                <a:latin typeface="Roboto"/>
              </a:defRPr>
            </a:pPr>
            <a:r>
              <a:t>Вся схема воспроизводится через Docker Compose и команду make demo.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73952"/>
            <a:ext cx="73152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r">
              <a:defRPr sz="900" b="0">
                <a:solidFill>
                  <a:srgbClr val="697582"/>
                </a:solidFill>
                <a:latin typeface="Roboto"/>
              </a:defRPr>
            </a:pPr>
            <a:r>
              <a:t>4/8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502920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900" b="0">
                <a:solidFill>
                  <a:srgbClr val="697582"/>
                </a:solidFill>
                <a:latin typeface="Roboto"/>
              </a:defRPr>
            </a:pPr>
            <a:r>
              <a:t>F1 ClickHouse Analytics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955279" cy="4114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2700" b="1">
                <a:solidFill>
                  <a:srgbClr val="162336"/>
                </a:solidFill>
                <a:latin typeface="Roboto"/>
              </a:defRPr>
            </a:pPr>
            <a:r>
              <a:t>Слои данных и дедубликация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9875520" cy="3108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350" b="0">
                <a:solidFill>
                  <a:srgbClr val="697582"/>
                </a:solidFill>
                <a:latin typeface="Roboto"/>
              </a:defRPr>
            </a:pPr>
            <a:r>
              <a:t>Почему BI работает с marts, а не с raw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61288"/>
            <a:ext cx="1463040" cy="4572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22402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73152" cy="123444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636776"/>
            <a:ext cx="194767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1947672" cy="6675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00" b="0">
                <a:solidFill>
                  <a:srgbClr val="697582"/>
                </a:solidFill>
                <a:latin typeface="Roboto"/>
              </a:defRPr>
            </a:pPr>
            <a:r>
              <a:t>Данные как пришли</a:t>
            </a:r>
            <a:br/>
            <a:r>
              <a:t>из CSV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508760"/>
            <a:ext cx="22402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71800" y="1508760"/>
            <a:ext cx="73152" cy="123444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6392" y="1636776"/>
            <a:ext cx="194767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staging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1984248"/>
            <a:ext cx="1947672" cy="6675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00" b="0">
                <a:solidFill>
                  <a:srgbClr val="697582"/>
                </a:solidFill>
                <a:latin typeface="Roboto"/>
              </a:defRPr>
            </a:pPr>
            <a:r>
              <a:t>Очистка и</a:t>
            </a:r>
            <a:br/>
            <a:r>
              <a:t>логическая дедупликация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508760"/>
            <a:ext cx="22402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508760"/>
            <a:ext cx="73152" cy="1234440"/>
          </a:xfrm>
          <a:prstGeom prst="rect">
            <a:avLst/>
          </a:prstGeom>
          <a:solidFill>
            <a:srgbClr val="24A654"/>
          </a:solidFill>
          <a:ln>
            <a:solidFill>
              <a:srgbClr val="24A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13831" y="1636776"/>
            <a:ext cx="194767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DWH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13831" y="1984248"/>
            <a:ext cx="1947672" cy="6675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00" b="0">
                <a:solidFill>
                  <a:srgbClr val="697582"/>
                </a:solidFill>
                <a:latin typeface="Roboto"/>
              </a:defRPr>
            </a:pPr>
            <a:r>
              <a:t>Dimensions</a:t>
            </a:r>
            <a:br/>
            <a:r>
              <a:t>и facts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1508760"/>
            <a:ext cx="22402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26679" y="1508760"/>
            <a:ext cx="73152" cy="1234440"/>
          </a:xfrm>
          <a:prstGeom prst="rect">
            <a:avLst/>
          </a:prstGeom>
          <a:solidFill>
            <a:srgbClr val="162336"/>
          </a:solidFill>
          <a:ln>
            <a:solidFill>
              <a:srgbClr val="16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1271" y="1636776"/>
            <a:ext cx="194767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marts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1" y="1984248"/>
            <a:ext cx="1947672" cy="6675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00" b="0">
                <a:solidFill>
                  <a:srgbClr val="697582"/>
                </a:solidFill>
                <a:latin typeface="Roboto"/>
              </a:defRPr>
            </a:pPr>
            <a:r>
              <a:t>Готовые витрины</a:t>
            </a:r>
            <a:br/>
            <a:r>
              <a:t>для BI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04120" y="1508760"/>
            <a:ext cx="16459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04120" y="1508760"/>
            <a:ext cx="73152" cy="1234440"/>
          </a:xfrm>
          <a:prstGeom prst="rect">
            <a:avLst/>
          </a:prstGeom>
          <a:solidFill>
            <a:srgbClr val="00A9E0"/>
          </a:solidFill>
          <a:ln>
            <a:solidFill>
              <a:srgbClr val="00A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8712" y="1636776"/>
            <a:ext cx="135331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8712" y="1984248"/>
            <a:ext cx="1353312" cy="6675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00" b="0">
                <a:solidFill>
                  <a:srgbClr val="697582"/>
                </a:solidFill>
                <a:latin typeface="Roboto"/>
              </a:defRPr>
            </a:pPr>
            <a:r>
              <a:t>Superset</a:t>
            </a:r>
            <a:br/>
            <a:r>
              <a:t>charts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88920" y="2121408"/>
            <a:ext cx="155448" cy="0"/>
          </a:xfrm>
          <a:prstGeom prst="line">
            <a:avLst/>
          </a:prstGeom>
          <a:ln w="2032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166360" y="2121408"/>
            <a:ext cx="155448" cy="0"/>
          </a:xfrm>
          <a:prstGeom prst="line">
            <a:avLst/>
          </a:prstGeom>
          <a:ln w="2032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543800" y="2121408"/>
            <a:ext cx="155448" cy="0"/>
          </a:xfrm>
          <a:prstGeom prst="line">
            <a:avLst/>
          </a:prstGeom>
          <a:ln w="2032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921240" y="2121408"/>
            <a:ext cx="155448" cy="0"/>
          </a:xfrm>
          <a:prstGeom prst="line">
            <a:avLst/>
          </a:prstGeom>
          <a:ln w="2032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77240" y="3703320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703320"/>
            <a:ext cx="73152" cy="123444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3831335"/>
            <a:ext cx="304495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Storage-level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" y="4178808"/>
            <a:ext cx="3044952" cy="6675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30" b="0">
                <a:solidFill>
                  <a:srgbClr val="697582"/>
                </a:solidFill>
                <a:latin typeface="Roboto"/>
              </a:defRPr>
            </a:pPr>
            <a:r>
              <a:t>raw-таблицы используют ReplacingMergeTree(loaded_at)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4840" y="3703320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34840" y="3703320"/>
            <a:ext cx="73152" cy="123444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9431" y="3831335"/>
            <a:ext cx="304495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Analytics-level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9431" y="4178808"/>
            <a:ext cx="3044952" cy="6675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30" b="0">
                <a:solidFill>
                  <a:srgbClr val="697582"/>
                </a:solidFill>
                <a:latin typeface="Roboto"/>
              </a:defRPr>
            </a:pPr>
            <a:r>
              <a:t>dbt staging выбирает актуальную запись по business key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703320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92440" y="3703320"/>
            <a:ext cx="73152" cy="1234440"/>
          </a:xfrm>
          <a:prstGeom prst="rect">
            <a:avLst/>
          </a:prstGeom>
          <a:solidFill>
            <a:srgbClr val="24A654"/>
          </a:solidFill>
          <a:ln>
            <a:solidFill>
              <a:srgbClr val="24A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3831335"/>
            <a:ext cx="304495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1">
                <a:solidFill>
                  <a:srgbClr val="162336"/>
                </a:solidFill>
                <a:latin typeface="Roboto"/>
              </a:defRPr>
            </a:pPr>
            <a:r>
              <a:t>BI-level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7031" y="4178808"/>
            <a:ext cx="3044952" cy="66751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230" b="0">
                <a:solidFill>
                  <a:srgbClr val="697582"/>
                </a:solidFill>
                <a:latin typeface="Roboto"/>
              </a:defRPr>
            </a:pPr>
            <a:r>
              <a:t>дашборды используют только очищенные marts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73152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r">
              <a:defRPr sz="900" b="0">
                <a:solidFill>
                  <a:srgbClr val="697582"/>
                </a:solidFill>
                <a:latin typeface="Roboto"/>
              </a:defRPr>
            </a:pPr>
            <a:r>
              <a:t>5/8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73952"/>
            <a:ext cx="502920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900" b="0">
                <a:solidFill>
                  <a:srgbClr val="697582"/>
                </a:solidFill>
                <a:latin typeface="Roboto"/>
              </a:defRPr>
            </a:pPr>
            <a:r>
              <a:t>F1 ClickHouse Analytics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955279" cy="4114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2700" b="1">
                <a:solidFill>
                  <a:srgbClr val="162336"/>
                </a:solidFill>
                <a:latin typeface="Roboto"/>
              </a:defRPr>
            </a:pPr>
            <a:r>
              <a:t>Мониторинг и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9875520" cy="3108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350" b="0">
                <a:solidFill>
                  <a:srgbClr val="697582"/>
                </a:solidFill>
                <a:latin typeface="Roboto"/>
              </a:defRPr>
            </a:pPr>
            <a:r>
              <a:t>Две витрины результата: техническая и бизнесовая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61288"/>
            <a:ext cx="1463040" cy="4572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07492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63040"/>
            <a:ext cx="73152" cy="4206240"/>
          </a:xfrm>
          <a:prstGeom prst="rect">
            <a:avLst/>
          </a:prstGeom>
          <a:solidFill>
            <a:srgbClr val="DC4556"/>
          </a:solidFill>
          <a:ln>
            <a:solidFill>
              <a:srgbClr val="DC4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591056"/>
            <a:ext cx="478231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700" b="1">
                <a:solidFill>
                  <a:srgbClr val="162336"/>
                </a:solidFill>
                <a:latin typeface="Roboto"/>
              </a:defRPr>
            </a:pPr>
            <a:r>
              <a:t>Grafana: pipeline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938528"/>
            <a:ext cx="4782312" cy="3639311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300" b="0">
                <a:solidFill>
                  <a:srgbClr val="697582"/>
                </a:solidFill>
                <a:latin typeface="Roboto"/>
              </a:defRPr>
            </a:pPr>
            <a:r>
              <a:t>Показывает состояние загрузки:</a:t>
            </a:r>
            <a:br/>
            <a:br/>
            <a:r>
              <a:t>• rows loaded</a:t>
            </a:r>
            <a:br/>
            <a:r>
              <a:t>• successful / failed batches</a:t>
            </a:r>
            <a:br/>
            <a:r>
              <a:t>• duration ms</a:t>
            </a:r>
            <a:br/>
            <a:r>
              <a:t>• latest load batches</a:t>
            </a:r>
            <a:br/>
            <a:br/>
            <a:r>
              <a:t>Источник: monitoring.* 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7492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73152" cy="4206240"/>
          </a:xfrm>
          <a:prstGeom prst="rect">
            <a:avLst/>
          </a:prstGeom>
          <a:solidFill>
            <a:srgbClr val="00A9E0"/>
          </a:solidFill>
          <a:ln>
            <a:solidFill>
              <a:srgbClr val="00A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591056"/>
            <a:ext cx="478231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700" b="1">
                <a:solidFill>
                  <a:srgbClr val="162336"/>
                </a:solidFill>
                <a:latin typeface="Roboto"/>
              </a:defRPr>
            </a:pPr>
            <a:r>
              <a:t>Superset: business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938528"/>
            <a:ext cx="4782312" cy="3639311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300" b="0">
                <a:solidFill>
                  <a:srgbClr val="697582"/>
                </a:solidFill>
                <a:latin typeface="Roboto"/>
              </a:defRPr>
            </a:pPr>
            <a:r>
              <a:t>Показывает аналитику F1:</a:t>
            </a:r>
            <a:br/>
            <a:br/>
            <a:r>
              <a:t>• top drivers by points</a:t>
            </a:r>
            <a:br/>
            <a:r>
              <a:t>• top constructors</a:t>
            </a:r>
            <a:br/>
            <a:r>
              <a:t>• season evolution</a:t>
            </a:r>
            <a:br/>
            <a:r>
              <a:t>• fastest pit stops</a:t>
            </a:r>
            <a:br/>
            <a:r>
              <a:t>• best lap times</a:t>
            </a:r>
            <a:br/>
            <a:br/>
            <a:r>
              <a:t>Источник: marts.* tables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73152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r">
              <a:defRPr sz="900" b="0">
                <a:solidFill>
                  <a:srgbClr val="697582"/>
                </a:solidFill>
                <a:latin typeface="Roboto"/>
              </a:defRPr>
            </a:pPr>
            <a:r>
              <a:t>6/8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900" b="0">
                <a:solidFill>
                  <a:srgbClr val="697582"/>
                </a:solidFill>
                <a:latin typeface="Roboto"/>
              </a:defRPr>
            </a:pPr>
            <a:r>
              <a:t>F1 ClickHouse Analytics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955279" cy="4114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2700" b="1">
                <a:solidFill>
                  <a:srgbClr val="162336"/>
                </a:solidFill>
                <a:latin typeface="Roboto"/>
              </a:defRPr>
            </a:pPr>
            <a:r>
              <a:t>Что получилось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9875520" cy="3108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350" b="0">
                <a:solidFill>
                  <a:srgbClr val="697582"/>
                </a:solidFill>
                <a:latin typeface="Roboto"/>
              </a:defRPr>
            </a:pPr>
            <a:r>
              <a:t>Воспроизводимый demo-flow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61288"/>
            <a:ext cx="1463040" cy="4572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3474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08760"/>
            <a:ext cx="73152" cy="96012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36776"/>
            <a:ext cx="318211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1. Подготовка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984248"/>
            <a:ext cx="3182112" cy="3931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700" b="0">
                <a:solidFill>
                  <a:srgbClr val="697582"/>
                </a:solidFill>
                <a:latin typeface="Roboto"/>
              </a:defRPr>
            </a:pPr>
            <a:r>
              <a:t>make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08760"/>
            <a:ext cx="3474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508760"/>
            <a:ext cx="73152" cy="960120"/>
          </a:xfrm>
          <a:prstGeom prst="rect">
            <a:avLst/>
          </a:prstGeom>
          <a:solidFill>
            <a:srgbClr val="24A654"/>
          </a:solidFill>
          <a:ln>
            <a:solidFill>
              <a:srgbClr val="24A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636776"/>
            <a:ext cx="318211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2. Проверка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1984248"/>
            <a:ext cx="3182112" cy="3931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700" b="0">
                <a:solidFill>
                  <a:srgbClr val="697582"/>
                </a:solidFill>
                <a:latin typeface="Roboto"/>
              </a:defRPr>
            </a:pPr>
            <a:r>
              <a:t>make demo-show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508760"/>
            <a:ext cx="3474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1508760"/>
            <a:ext cx="73152" cy="960120"/>
          </a:xfrm>
          <a:prstGeom prst="rect">
            <a:avLst/>
          </a:prstGeom>
          <a:solidFill>
            <a:srgbClr val="00A9E0"/>
          </a:solidFill>
          <a:ln>
            <a:solidFill>
              <a:srgbClr val="00A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5592" y="1636776"/>
            <a:ext cx="318211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3. Демонстрация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1984248"/>
            <a:ext cx="3182112" cy="3931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700" b="0">
                <a:solidFill>
                  <a:srgbClr val="697582"/>
                </a:solidFill>
                <a:latin typeface="Roboto"/>
              </a:defRPr>
            </a:pPr>
            <a:r>
              <a:t>Grafana + Superset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3154680"/>
            <a:ext cx="1417320" cy="713232"/>
          </a:xfrm>
          <a:prstGeom prst="roundRect">
            <a:avLst/>
          </a:prstGeom>
          <a:solidFill>
            <a:srgbClr val="697582"/>
          </a:solidFill>
          <a:ln>
            <a:solidFill>
              <a:srgbClr val="6975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31012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Reset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404872" y="3511296"/>
            <a:ext cx="146304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578608" y="3154680"/>
            <a:ext cx="1417320" cy="713232"/>
          </a:xfrm>
          <a:prstGeom prst="round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0" y="331012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Load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23360" y="3511296"/>
            <a:ext cx="146303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197096" y="3154680"/>
            <a:ext cx="1417320" cy="713232"/>
          </a:xfrm>
          <a:prstGeom prst="roundRect">
            <a:avLst/>
          </a:prstGeom>
          <a:solidFill>
            <a:srgbClr val="24A654"/>
          </a:solidFill>
          <a:ln>
            <a:solidFill>
              <a:srgbClr val="24A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0248" y="331012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dbt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41848" y="3511296"/>
            <a:ext cx="146303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815584" y="3154680"/>
            <a:ext cx="1417320" cy="713232"/>
          </a:xfrm>
          <a:prstGeom prst="roundRect">
            <a:avLst/>
          </a:prstGeom>
          <a:solidFill>
            <a:srgbClr val="00A9E0"/>
          </a:solidFill>
          <a:ln>
            <a:solidFill>
              <a:srgbClr val="00A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88736" y="331012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Import BI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260336" y="3511296"/>
            <a:ext cx="146304" cy="0"/>
          </a:xfrm>
          <a:prstGeom prst="line">
            <a:avLst/>
          </a:prstGeom>
          <a:ln w="19050">
            <a:solidFill>
              <a:srgbClr val="6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434072" y="3154680"/>
            <a:ext cx="1417320" cy="713232"/>
          </a:xfrm>
          <a:prstGeom prst="round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07224" y="3310128"/>
            <a:ext cx="1271016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Roboto"/>
              </a:defRPr>
            </a:pPr>
            <a:r>
              <a:t>Check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709160"/>
            <a:ext cx="85953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4709160"/>
            <a:ext cx="73152" cy="914400"/>
          </a:xfrm>
          <a:prstGeom prst="rect">
            <a:avLst/>
          </a:prstGeom>
          <a:solidFill>
            <a:srgbClr val="162336"/>
          </a:solidFill>
          <a:ln>
            <a:solidFill>
              <a:srgbClr val="16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93392" y="4837176"/>
            <a:ext cx="830275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Результат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93392" y="5184648"/>
            <a:ext cx="8302752" cy="34747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500" b="0">
                <a:solidFill>
                  <a:srgbClr val="697582"/>
                </a:solidFill>
                <a:latin typeface="Roboto"/>
              </a:defRPr>
            </a:pPr>
            <a:r>
              <a:t>Проверяющий может поднять проект с нуля и увидеть те же дашборды.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73952"/>
            <a:ext cx="73152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r">
              <a:defRPr sz="900" b="0">
                <a:solidFill>
                  <a:srgbClr val="697582"/>
                </a:solidFill>
                <a:latin typeface="Roboto"/>
              </a:defRPr>
            </a:pPr>
            <a:r>
              <a:t>7/8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02920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900" b="0">
                <a:solidFill>
                  <a:srgbClr val="697582"/>
                </a:solidFill>
                <a:latin typeface="Roboto"/>
              </a:defRPr>
            </a:pPr>
            <a:r>
              <a:t>F1 ClickHouse Analytics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955279" cy="4114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2700" b="1">
                <a:solidFill>
                  <a:srgbClr val="162336"/>
                </a:solidFill>
                <a:latin typeface="Roboto"/>
              </a:defRPr>
            </a:pPr>
            <a:r>
              <a:t>Выводы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9875520" cy="310896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350" b="0">
                <a:solidFill>
                  <a:srgbClr val="697582"/>
                </a:solidFill>
                <a:latin typeface="Roboto"/>
              </a:defRPr>
            </a:pPr>
            <a:r>
              <a:t>Что удалось и что можно улучшить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61288"/>
            <a:ext cx="1463040" cy="4572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290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73152" cy="3337560"/>
          </a:xfrm>
          <a:prstGeom prst="rect">
            <a:avLst/>
          </a:prstGeom>
          <a:solidFill>
            <a:srgbClr val="24A654"/>
          </a:solidFill>
          <a:ln>
            <a:solidFill>
              <a:srgbClr val="24A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545336"/>
            <a:ext cx="313639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Что удалось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892808"/>
            <a:ext cx="3136392" cy="27706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320" b="0">
                <a:solidFill>
                  <a:srgbClr val="697582"/>
                </a:solidFill>
                <a:latin typeface="Roboto"/>
              </a:defRPr>
            </a:pPr>
            <a:r>
              <a:t>• полный pipeline</a:t>
            </a:r>
            <a:br/>
            <a:r>
              <a:t>• ClickHouse как DWH</a:t>
            </a:r>
            <a:br/>
            <a:r>
              <a:t>• dbt-тесты</a:t>
            </a:r>
            <a:br/>
            <a:r>
              <a:t>• 2 dashboard-а</a:t>
            </a:r>
            <a:br/>
            <a:r>
              <a:t>• воспроизводимый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4290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417320"/>
            <a:ext cx="73152" cy="333756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545336"/>
            <a:ext cx="313639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Сложности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892808"/>
            <a:ext cx="3136392" cy="27706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320" b="0">
                <a:solidFill>
                  <a:srgbClr val="697582"/>
                </a:solidFill>
                <a:latin typeface="Roboto"/>
              </a:defRPr>
            </a:pPr>
            <a:r>
              <a:t>• типы данных CSV</a:t>
            </a:r>
            <a:br/>
            <a:r>
              <a:t>• Date32 до 1970 года</a:t>
            </a:r>
            <a:br/>
            <a:r>
              <a:t>• Superset import</a:t>
            </a:r>
            <a:br/>
            <a:r>
              <a:t>• права ClickHouse user</a:t>
            </a:r>
            <a:br/>
            <a:r>
              <a:t>• дедубликация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417320"/>
            <a:ext cx="34290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1417320"/>
            <a:ext cx="73152" cy="3337560"/>
          </a:xfrm>
          <a:prstGeom prst="rect">
            <a:avLst/>
          </a:prstGeom>
          <a:solidFill>
            <a:srgbClr val="166ADE"/>
          </a:solidFill>
          <a:ln>
            <a:solidFill>
              <a:srgbClr val="166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1545336"/>
            <a:ext cx="3136392" cy="2560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600" b="1">
                <a:solidFill>
                  <a:srgbClr val="162336"/>
                </a:solidFill>
                <a:latin typeface="Roboto"/>
              </a:defRPr>
            </a:pPr>
            <a:r>
              <a:t>Развитие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1892808"/>
            <a:ext cx="3136392" cy="27706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1320" b="0">
                <a:solidFill>
                  <a:srgbClr val="697582"/>
                </a:solidFill>
                <a:latin typeface="Roboto"/>
              </a:defRPr>
            </a:pPr>
            <a:r>
              <a:t>• Prometheus exporter</a:t>
            </a:r>
            <a:br/>
            <a:r>
              <a:t>• Kafka streaming</a:t>
            </a:r>
            <a:br/>
            <a:r>
              <a:t>• CI для dbt tests</a:t>
            </a:r>
            <a:br/>
            <a:r>
              <a:t>• больше marts</a:t>
            </a:r>
            <a:br/>
            <a:r>
              <a:t>• cloud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23560"/>
            <a:ext cx="10241280" cy="320040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ctr">
              <a:defRPr sz="1500" b="1">
                <a:solidFill>
                  <a:srgbClr val="162336"/>
                </a:solidFill>
                <a:latin typeface="Roboto"/>
              </a:defRPr>
            </a:pPr>
            <a:r>
              <a:t>Цель проекта достигнута: данные загружаются, трансформируются, мониторятся и визуализируются.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73152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r">
              <a:defRPr sz="900" b="0">
                <a:solidFill>
                  <a:srgbClr val="697582"/>
                </a:solidFill>
                <a:latin typeface="Roboto"/>
              </a:defRPr>
            </a:pPr>
            <a:r>
              <a:t>8/8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029200" cy="164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normAutofit/>
          </a:bodyPr>
          <a:lstStyle/>
          <a:p>
            <a:pPr algn="l">
              <a:defRPr sz="900" b="0">
                <a:solidFill>
                  <a:srgbClr val="697582"/>
                </a:solidFill>
                <a:latin typeface="Roboto"/>
              </a:defRPr>
            </a:pPr>
            <a:r>
              <a:t>F1 ClickHouse 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